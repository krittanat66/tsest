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Calibri"/>
              </a:rPr>
              <a:t>Room Keys by Segment (ห้อง)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C99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2560</c:v>
                  </c:pt>
                  <c:pt idx="1">
                    <c:v>2561</c:v>
                  </c:pt>
                  <c:pt idx="2">
                    <c:v>2562</c:v>
                  </c:pt>
                  <c:pt idx="3">
                    <c:v>2563</c:v>
                  </c:pt>
                  <c:pt idx="4">
                    <c:v>2564</c:v>
                  </c:pt>
                  <c:pt idx="5">
                    <c:v>2565</c:v>
                  </c:pt>
                  <c:pt idx="6">
                    <c:v>2566</c:v>
                  </c:pt>
                  <c:pt idx="7">
                    <c:v>2567</c:v>
                  </c:pt>
                  <c:pt idx="8">
                    <c:v>2568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2814</c:v>
                </c:pt>
                <c:pt idx="1">
                  <c:v>3653</c:v>
                </c:pt>
                <c:pt idx="2">
                  <c:v>4226</c:v>
                </c:pt>
                <c:pt idx="3">
                  <c:v>4459</c:v>
                </c:pt>
                <c:pt idx="4">
                  <c:v>4751</c:v>
                </c:pt>
                <c:pt idx="5">
                  <c:v>5796</c:v>
                </c:pt>
                <c:pt idx="6">
                  <c:v>5752</c:v>
                </c:pt>
                <c:pt idx="7">
                  <c:v>7007</c:v>
                </c:pt>
                <c:pt idx="8">
                  <c:v>7796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Economy</c:v>
                </c:pt>
              </c:strCache>
            </c:strRef>
          </c:tx>
          <c:spPr>
            <a:solidFill>
              <a:srgbClr val="D269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2560</c:v>
                  </c:pt>
                  <c:pt idx="1">
                    <c:v>2561</c:v>
                  </c:pt>
                  <c:pt idx="2">
                    <c:v>2562</c:v>
                  </c:pt>
                  <c:pt idx="3">
                    <c:v>2563</c:v>
                  </c:pt>
                  <c:pt idx="4">
                    <c:v>2564</c:v>
                  </c:pt>
                  <c:pt idx="5">
                    <c:v>2565</c:v>
                  </c:pt>
                  <c:pt idx="6">
                    <c:v>2566</c:v>
                  </c:pt>
                  <c:pt idx="7">
                    <c:v>2567</c:v>
                  </c:pt>
                  <c:pt idx="8">
                    <c:v>2568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2253</c:v>
                </c:pt>
                <c:pt idx="1">
                  <c:v>2386</c:v>
                </c:pt>
                <c:pt idx="2">
                  <c:v>2686</c:v>
                </c:pt>
                <c:pt idx="3">
                  <c:v>2686</c:v>
                </c:pt>
                <c:pt idx="4">
                  <c:v>2477</c:v>
                </c:pt>
                <c:pt idx="5">
                  <c:v>1813</c:v>
                </c:pt>
                <c:pt idx="6">
                  <c:v>1813</c:v>
                </c:pt>
                <c:pt idx="7">
                  <c:v>1813</c:v>
                </c:pt>
                <c:pt idx="8">
                  <c:v>1813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Mid Scale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2560</c:v>
                  </c:pt>
                  <c:pt idx="1">
                    <c:v>2561</c:v>
                  </c:pt>
                  <c:pt idx="2">
                    <c:v>2562</c:v>
                  </c:pt>
                  <c:pt idx="3">
                    <c:v>2563</c:v>
                  </c:pt>
                  <c:pt idx="4">
                    <c:v>2564</c:v>
                  </c:pt>
                  <c:pt idx="5">
                    <c:v>2565</c:v>
                  </c:pt>
                  <c:pt idx="6">
                    <c:v>2566</c:v>
                  </c:pt>
                  <c:pt idx="7">
                    <c:v>2567</c:v>
                  </c:pt>
                  <c:pt idx="8">
                    <c:v>2568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1282</c:v>
                </c:pt>
                <c:pt idx="1">
                  <c:v>1467</c:v>
                </c:pt>
                <c:pt idx="2">
                  <c:v>1668</c:v>
                </c:pt>
                <c:pt idx="3">
                  <c:v>1668</c:v>
                </c:pt>
                <c:pt idx="4">
                  <c:v>1668</c:v>
                </c:pt>
                <c:pt idx="5">
                  <c:v>1668</c:v>
                </c:pt>
                <c:pt idx="6">
                  <c:v>1667</c:v>
                </c:pt>
                <c:pt idx="7">
                  <c:v>1848</c:v>
                </c:pt>
                <c:pt idx="8">
                  <c:v>1812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Luxury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2560</c:v>
                  </c:pt>
                  <c:pt idx="1">
                    <c:v>2561</c:v>
                  </c:pt>
                  <c:pt idx="2">
                    <c:v>2562</c:v>
                  </c:pt>
                  <c:pt idx="3">
                    <c:v>2563</c:v>
                  </c:pt>
                  <c:pt idx="4">
                    <c:v>2564</c:v>
                  </c:pt>
                  <c:pt idx="5">
                    <c:v>2565</c:v>
                  </c:pt>
                  <c:pt idx="6">
                    <c:v>2566</c:v>
                  </c:pt>
                  <c:pt idx="7">
                    <c:v>2567</c:v>
                  </c:pt>
                  <c:pt idx="8">
                    <c:v>2568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979</c:v>
                </c:pt>
                <c:pt idx="1">
                  <c:v>979</c:v>
                </c:pt>
                <c:pt idx="2">
                  <c:v>989</c:v>
                </c:pt>
                <c:pt idx="3">
                  <c:v>989</c:v>
                </c:pt>
                <c:pt idx="4">
                  <c:v>911</c:v>
                </c:pt>
                <c:pt idx="5">
                  <c:v>911</c:v>
                </c:pt>
                <c:pt idx="6">
                  <c:v>911</c:v>
                </c:pt>
                <c:pt idx="7">
                  <c:v>911</c:v>
                </c:pt>
                <c:pt idx="8">
                  <c:v>911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F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1F3B"/>
                </a:solidFill>
                <a:latin typeface="Calibri"/>
              </a:rPr>
              <a:t>YoY Room-Key Growth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Luxury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2560</c:v>
                  </c:pt>
                  <c:pt idx="1">
                    <c:v>2561</c:v>
                  </c:pt>
                  <c:pt idx="2">
                    <c:v>2562</c:v>
                  </c:pt>
                  <c:pt idx="3">
                    <c:v>2563</c:v>
                  </c:pt>
                  <c:pt idx="4">
                    <c:v>2564</c:v>
                  </c:pt>
                  <c:pt idx="5">
                    <c:v>2565</c:v>
                  </c:pt>
                  <c:pt idx="6">
                    <c:v>2566</c:v>
                  </c:pt>
                  <c:pt idx="7">
                    <c:v>2567</c:v>
                  </c:pt>
                  <c:pt idx="8">
                    <c:v>2568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-10.11</c:v>
                </c:pt>
                <c:pt idx="1">
                  <c:v>-1.99</c:v>
                </c:pt>
                <c:pt idx="2">
                  <c:v>-2.14</c:v>
                </c:pt>
                <c:pt idx="3">
                  <c:v>-68.57</c:v>
                </c:pt>
                <c:pt idx="4">
                  <c:v>-37.97</c:v>
                </c:pt>
                <c:pt idx="5">
                  <c:v>269.11</c:v>
                </c:pt>
                <c:pt idx="6">
                  <c:v>37.49</c:v>
                </c:pt>
                <c:pt idx="7">
                  <c:v>3.51</c:v>
                </c:pt>
                <c:pt idx="8">
                  <c:v>-4.83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 Scale</c:v>
                </c:pt>
              </c:strCache>
            </c:strRef>
          </c:tx>
          <c:spPr>
            <a:solidFill>
              <a:srgbClr val="CADCFC"/>
            </a:solidFill>
            <a:ln w="3175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2560</c:v>
                  </c:pt>
                  <c:pt idx="1">
                    <c:v>2561</c:v>
                  </c:pt>
                  <c:pt idx="2">
                    <c:v>2562</c:v>
                  </c:pt>
                  <c:pt idx="3">
                    <c:v>2563</c:v>
                  </c:pt>
                  <c:pt idx="4">
                    <c:v>2564</c:v>
                  </c:pt>
                  <c:pt idx="5">
                    <c:v>2565</c:v>
                  </c:pt>
                  <c:pt idx="6">
                    <c:v>2566</c:v>
                  </c:pt>
                  <c:pt idx="7">
                    <c:v>2567</c:v>
                  </c:pt>
                  <c:pt idx="8">
                    <c:v>2568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9.05</c:v>
                </c:pt>
                <c:pt idx="1">
                  <c:v>4.46</c:v>
                </c:pt>
                <c:pt idx="2">
                  <c:v>5.32</c:v>
                </c:pt>
                <c:pt idx="3">
                  <c:v>-72.44</c:v>
                </c:pt>
                <c:pt idx="4">
                  <c:v>-43.89</c:v>
                </c:pt>
                <c:pt idx="5">
                  <c:v>323.24</c:v>
                </c:pt>
                <c:pt idx="6">
                  <c:v>77.54</c:v>
                </c:pt>
                <c:pt idx="7">
                  <c:v>11.9</c:v>
                </c:pt>
                <c:pt idx="8">
                  <c:v>0.61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Economy</c:v>
                </c:pt>
              </c:strCache>
            </c:strRef>
          </c:tx>
          <c:spPr>
            <a:solidFill>
              <a:srgbClr val="D2691E"/>
            </a:solidFill>
            <a:ln w="31750" cap="flat">
              <a:solidFill>
                <a:srgbClr val="D269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2691E"/>
              </a:solidFill>
              <a:ln w="9525" cap="flat">
                <a:solidFill>
                  <a:srgbClr val="D269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2560</c:v>
                  </c:pt>
                  <c:pt idx="1">
                    <c:v>2561</c:v>
                  </c:pt>
                  <c:pt idx="2">
                    <c:v>2562</c:v>
                  </c:pt>
                  <c:pt idx="3">
                    <c:v>2563</c:v>
                  </c:pt>
                  <c:pt idx="4">
                    <c:v>2564</c:v>
                  </c:pt>
                  <c:pt idx="5">
                    <c:v>2565</c:v>
                  </c:pt>
                  <c:pt idx="6">
                    <c:v>2566</c:v>
                  </c:pt>
                  <c:pt idx="7">
                    <c:v>2567</c:v>
                  </c:pt>
                  <c:pt idx="8">
                    <c:v>2568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7.77</c:v>
                </c:pt>
                <c:pt idx="1">
                  <c:v>1.9</c:v>
                </c:pt>
                <c:pt idx="2">
                  <c:v>-3.63</c:v>
                </c:pt>
                <c:pt idx="3">
                  <c:v>-66.96</c:v>
                </c:pt>
                <c:pt idx="4">
                  <c:v>-61.99</c:v>
                </c:pt>
                <c:pt idx="5">
                  <c:v>286.15</c:v>
                </c:pt>
                <c:pt idx="6">
                  <c:v>78.74</c:v>
                </c:pt>
                <c:pt idx="7">
                  <c:v>20.51</c:v>
                </c:pt>
                <c:pt idx="8">
                  <c:v>-6.58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C99A2E"/>
            </a:solidFill>
            <a:ln w="31750" cap="flat">
              <a:solidFill>
                <a:srgbClr val="C99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9A2E"/>
              </a:solidFill>
              <a:ln w="9525" cap="flat">
                <a:solidFill>
                  <a:srgbClr val="C99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2560</c:v>
                  </c:pt>
                  <c:pt idx="1">
                    <c:v>2561</c:v>
                  </c:pt>
                  <c:pt idx="2">
                    <c:v>2562</c:v>
                  </c:pt>
                  <c:pt idx="3">
                    <c:v>2563</c:v>
                  </c:pt>
                  <c:pt idx="4">
                    <c:v>2564</c:v>
                  </c:pt>
                  <c:pt idx="5">
                    <c:v>2565</c:v>
                  </c:pt>
                  <c:pt idx="6">
                    <c:v>2566</c:v>
                  </c:pt>
                  <c:pt idx="7">
                    <c:v>2567</c:v>
                  </c:pt>
                  <c:pt idx="8">
                    <c:v>2568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53.89</c:v>
                </c:pt>
                <c:pt idx="1">
                  <c:v>93.27</c:v>
                </c:pt>
                <c:pt idx="2">
                  <c:v>24.91</c:v>
                </c:pt>
                <c:pt idx="3">
                  <c:v>-27.62</c:v>
                </c:pt>
                <c:pt idx="4">
                  <c:v>-5.01</c:v>
                </c:pt>
                <c:pt idx="5">
                  <c:v>94.39</c:v>
                </c:pt>
                <c:pt idx="6">
                  <c:v>44.04</c:v>
                </c:pt>
                <c:pt idx="7">
                  <c:v>23.09</c:v>
                </c:pt>
                <c:pt idx="8">
                  <c:v>14.33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Growth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F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BCG matrix built from 2560-2568 room-key data by segment. Growth = YoY room-key change; relative market share = segment share vs. the largest segment (Luxury baseline). Quadrant thresholds: growth divider = 2568 average growth (0.88%); share divider = 50%.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C3A80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MATRIX ANALYSIS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การวิเคราะห์พอร์ตโฟลิโอห้องพักโรงแรมตาม Segment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Room-Key Portfolio by Segment  •  ปี 2560–2568 (2017–2025)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Room-Key Portfolio Mix by Segment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จำนวนห้องพักต่อ Segment ปี 2560–2568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46720" y="153619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12,332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12140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room keys in 2568 — เพิ่มขึ้น 68% จากปี 2560 (7,328 ห้อง)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301752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BF6E8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46720" y="313639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72160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คือสัดส่วนใหญ่ที่สุด (7,796 ของ 12,332 ห้อง) — ขึ้นจาก 38% ในปี 2560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4617720"/>
            <a:ext cx="3794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46720" y="4754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หดตัวต่อเนื่อง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513892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 2,686 ห้อง (2562–2563) เหลือ 1,813 ห้อง ในปี 2568 — ส่วนแบ่งทางตลาดลดลงต่อเนื่อง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BCG Growth-Share Matrix — ปี 2568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% (YoY) vs. Relative Market Share (%) — ตำแหน่ง 4 Segment ล่าสุด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3474720" cy="2972166"/>
          </a:xfrm>
          <a:prstGeom prst="rect">
            <a:avLst/>
          </a:prstGeom>
          <a:solidFill>
            <a:srgbClr val="FBF6E8"/>
          </a:solidFill>
          <a:ln/>
        </p:spPr>
      </p:sp>
      <p:sp>
        <p:nvSpPr>
          <p:cNvPr id="5" name="Shape 3"/>
          <p:cNvSpPr/>
          <p:nvPr/>
        </p:nvSpPr>
        <p:spPr>
          <a:xfrm>
            <a:off x="4297680" y="1554480"/>
            <a:ext cx="3474720" cy="2972166"/>
          </a:xfrm>
          <a:prstGeom prst="rect">
            <a:avLst/>
          </a:prstGeom>
          <a:solidFill>
            <a:srgbClr val="FBEDE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526646"/>
            <a:ext cx="3474720" cy="1691274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0" y="4526646"/>
            <a:ext cx="3474720" cy="1691274"/>
          </a:xfrm>
          <a:prstGeom prst="rect">
            <a:avLst/>
          </a:prstGeom>
          <a:solidFill>
            <a:srgbClr val="F3E9E9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554480"/>
            <a:ext cx="6949440" cy="4663440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554480"/>
            <a:ext cx="0" cy="4663440"/>
          </a:xfrm>
          <a:prstGeom prst="line">
            <a:avLst/>
          </a:prstGeom>
          <a:noFill/>
          <a:ln w="12700">
            <a:solidFill>
              <a:srgbClr val="BFC6D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22960" y="4526646"/>
            <a:ext cx="6949440" cy="0"/>
          </a:xfrm>
          <a:prstGeom prst="line">
            <a:avLst/>
          </a:prstGeom>
          <a:noFill/>
          <a:ln w="12700">
            <a:solidFill>
              <a:srgbClr val="BFC6D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96012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MARK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833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58338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276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Market Share  (สูง → ต่ำ)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" y="5130790"/>
            <a:ext cx="566928" cy="56692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-182880" y="474674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-182880" y="499363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share / -4.8%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8138" y="4285153"/>
            <a:ext cx="566928" cy="56692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405762" y="3901105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Scale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05762" y="414799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share / +0.6%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07914" y="5402824"/>
            <a:ext cx="566928" cy="566928"/>
          </a:xfrm>
          <a:prstGeom prst="ellipse">
            <a:avLst/>
          </a:prstGeom>
          <a:solidFill>
            <a:srgbClr val="8B3A3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185538" y="5018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185538" y="5265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share / -6.6%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24951" y="2152406"/>
            <a:ext cx="566928" cy="566928"/>
          </a:xfrm>
          <a:prstGeom prst="ellipse">
            <a:avLst/>
          </a:prstGeom>
          <a:solidFill>
            <a:srgbClr val="C99A2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802575" y="176835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802575" y="201524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share / +14.3%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1554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01000" y="2057400"/>
            <a:ext cx="164592" cy="16459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93608" y="201168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228600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— ส่วนแบ่งสูง (71%) เติบโตเร็วที่สุด (+14.3%)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01000" y="3017520"/>
            <a:ext cx="164592" cy="16459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93608" y="2971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93608" y="324612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Cow — ครองส่วนแบ่ง 100% แต่โตนิ่ง (-4.8%)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01000" y="3977640"/>
            <a:ext cx="164592" cy="16459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93608" y="39319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Scale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293608" y="420624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Cow — ส่วนแบ่ง 77% เติบโตทรงตัว (+0.6%)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1000" y="4937760"/>
            <a:ext cx="164592" cy="164592"/>
          </a:xfrm>
          <a:prstGeom prst="ellipse">
            <a:avLst/>
          </a:prstGeom>
          <a:solidFill>
            <a:srgbClr val="8B3A3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293608" y="48920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293608" y="516636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— ส่วนแบ่งต่ำ (37%) และหดตัว (-6.6%)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Growth % by Segment (YoY)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อัตราการเติบโตของจำนวนห้องต่อ Segment ปี 2560–2568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841248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189720" y="1417320"/>
            <a:ext cx="2423160" cy="4709160"/>
          </a:xfrm>
          <a:prstGeom prst="roundRect">
            <a:avLst>
              <a:gd name="adj" fmla="val 3019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390888" y="160020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อ่านกราฟ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390888" y="1965960"/>
            <a:ext cx="2020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2565 เกิดการเติบโตก้าวกระโดดทุก Segment (ฐานต่ำช่วง COVID ปี 2564) หลังจากนั้นอัตราการเติบโตชะลอตัวลง เหลือเพียง Budget ที่ยังโตต่อเนื่องในปี 2568 (+14.3%)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9-Year BCG Classification Trend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 BCG ราย Segment ปี 2560–2568 และข้อสรุปสำคัญ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11430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1430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1430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1430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1430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1430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11430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1430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1430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087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10512" y="1508760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10512" y="150876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96312" y="1508760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496312" y="150876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82112" y="1508760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82112" y="150876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67912" y="1508760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67912" y="150876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53712" y="1508760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53712" y="150876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39512" y="1508760"/>
            <a:ext cx="630936" cy="493776"/>
          </a:xfrm>
          <a:prstGeom prst="roundRect">
            <a:avLst>
              <a:gd name="adj" fmla="val 9259"/>
            </a:avLst>
          </a:prstGeom>
          <a:solidFill>
            <a:srgbClr val="C99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39512" y="150876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25312" y="1508760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25312" y="150876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11112" y="1508760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150876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96912" y="1508760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296912" y="150876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07568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Scale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2075688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810512" y="207568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496312" y="2075688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496312" y="207568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182112" y="2075688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182112" y="207568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67912" y="2075688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867912" y="207568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53712" y="2075688"/>
            <a:ext cx="630936" cy="493776"/>
          </a:xfrm>
          <a:prstGeom prst="roundRect">
            <a:avLst>
              <a:gd name="adj" fmla="val 9259"/>
            </a:avLst>
          </a:prstGeom>
          <a:solidFill>
            <a:srgbClr val="8B3A3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53712" y="207568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39512" y="2075688"/>
            <a:ext cx="630936" cy="493776"/>
          </a:xfrm>
          <a:prstGeom prst="roundRect">
            <a:avLst>
              <a:gd name="adj" fmla="val 9259"/>
            </a:avLst>
          </a:prstGeom>
          <a:solidFill>
            <a:srgbClr val="C99A2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239512" y="207568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25312" y="2075688"/>
            <a:ext cx="630936" cy="493776"/>
          </a:xfrm>
          <a:prstGeom prst="roundRect">
            <a:avLst>
              <a:gd name="adj" fmla="val 9259"/>
            </a:avLst>
          </a:prstGeom>
          <a:solidFill>
            <a:srgbClr val="C99A2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925312" y="207568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611112" y="2075688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611112" y="207568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296912" y="2075688"/>
            <a:ext cx="630936" cy="493776"/>
          </a:xfrm>
          <a:prstGeom prst="roundRect">
            <a:avLst>
              <a:gd name="adj" fmla="val 9259"/>
            </a:avLst>
          </a:prstGeom>
          <a:solidFill>
            <a:srgbClr val="2E8B5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296912" y="207568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2642616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810512" y="2642616"/>
            <a:ext cx="630936" cy="493776"/>
          </a:xfrm>
          <a:prstGeom prst="roundRect">
            <a:avLst>
              <a:gd name="adj" fmla="val 9259"/>
            </a:avLst>
          </a:prstGeom>
          <a:solidFill>
            <a:srgbClr val="8B3A3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810512" y="264261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496312" y="2642616"/>
            <a:ext cx="630936" cy="493776"/>
          </a:xfrm>
          <a:prstGeom prst="roundRect">
            <a:avLst>
              <a:gd name="adj" fmla="val 9259"/>
            </a:avLst>
          </a:prstGeom>
          <a:solidFill>
            <a:srgbClr val="8B3A3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496312" y="264261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182112" y="2642616"/>
            <a:ext cx="630936" cy="493776"/>
          </a:xfrm>
          <a:prstGeom prst="roundRect">
            <a:avLst>
              <a:gd name="adj" fmla="val 9259"/>
            </a:avLst>
          </a:prstGeom>
          <a:solidFill>
            <a:srgbClr val="8B3A3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182112" y="264261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867912" y="2642616"/>
            <a:ext cx="630936" cy="493776"/>
          </a:xfrm>
          <a:prstGeom prst="roundRect">
            <a:avLst>
              <a:gd name="adj" fmla="val 9259"/>
            </a:avLst>
          </a:prstGeom>
          <a:solidFill>
            <a:srgbClr val="8B3A3A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867912" y="264261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53712" y="2642616"/>
            <a:ext cx="630936" cy="493776"/>
          </a:xfrm>
          <a:prstGeom prst="roundRect">
            <a:avLst>
              <a:gd name="adj" fmla="val 9259"/>
            </a:avLst>
          </a:prstGeom>
          <a:solidFill>
            <a:srgbClr val="8B3A3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553712" y="264261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239512" y="2642616"/>
            <a:ext cx="630936" cy="493776"/>
          </a:xfrm>
          <a:prstGeom prst="roundRect">
            <a:avLst>
              <a:gd name="adj" fmla="val 9259"/>
            </a:avLst>
          </a:prstGeom>
          <a:solidFill>
            <a:srgbClr val="D2691E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239512" y="264261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Q?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925312" y="2642616"/>
            <a:ext cx="630936" cy="493776"/>
          </a:xfrm>
          <a:prstGeom prst="roundRect">
            <a:avLst>
              <a:gd name="adj" fmla="val 9259"/>
            </a:avLst>
          </a:prstGeom>
          <a:solidFill>
            <a:srgbClr val="D2691E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5925312" y="264261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Q?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611112" y="2642616"/>
            <a:ext cx="630936" cy="493776"/>
          </a:xfrm>
          <a:prstGeom prst="roundRect">
            <a:avLst>
              <a:gd name="adj" fmla="val 9259"/>
            </a:avLst>
          </a:prstGeom>
          <a:solidFill>
            <a:srgbClr val="D2691E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611112" y="264261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Q?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296912" y="2642616"/>
            <a:ext cx="630936" cy="493776"/>
          </a:xfrm>
          <a:prstGeom prst="roundRect">
            <a:avLst>
              <a:gd name="adj" fmla="val 9259"/>
            </a:avLst>
          </a:prstGeom>
          <a:solidFill>
            <a:srgbClr val="8B3A3A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296912" y="264261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548640" y="320954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1810512" y="3209544"/>
            <a:ext cx="630936" cy="493776"/>
          </a:xfrm>
          <a:prstGeom prst="roundRect">
            <a:avLst>
              <a:gd name="adj" fmla="val 9259"/>
            </a:avLst>
          </a:prstGeom>
          <a:solidFill>
            <a:srgbClr val="D2691E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1810512" y="320954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Q?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496312" y="3209544"/>
            <a:ext cx="630936" cy="493776"/>
          </a:xfrm>
          <a:prstGeom prst="roundRect">
            <a:avLst>
              <a:gd name="adj" fmla="val 9259"/>
            </a:avLst>
          </a:prstGeom>
          <a:solidFill>
            <a:srgbClr val="D2691E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2496312" y="320954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Q?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3182112" y="3209544"/>
            <a:ext cx="630936" cy="493776"/>
          </a:xfrm>
          <a:prstGeom prst="roundRect">
            <a:avLst>
              <a:gd name="adj" fmla="val 9259"/>
            </a:avLst>
          </a:prstGeom>
          <a:solidFill>
            <a:srgbClr val="D2691E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3182112" y="320954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Q?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867912" y="3209544"/>
            <a:ext cx="630936" cy="493776"/>
          </a:xfrm>
          <a:prstGeom prst="roundRect">
            <a:avLst>
              <a:gd name="adj" fmla="val 9259"/>
            </a:avLst>
          </a:prstGeom>
          <a:solidFill>
            <a:srgbClr val="C99A2E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867912" y="320954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553712" y="3209544"/>
            <a:ext cx="630936" cy="493776"/>
          </a:xfrm>
          <a:prstGeom prst="roundRect">
            <a:avLst>
              <a:gd name="adj" fmla="val 9259"/>
            </a:avLst>
          </a:prstGeom>
          <a:solidFill>
            <a:srgbClr val="C99A2E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553712" y="320954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5239512" y="3209544"/>
            <a:ext cx="630936" cy="493776"/>
          </a:xfrm>
          <a:prstGeom prst="roundRect">
            <a:avLst>
              <a:gd name="adj" fmla="val 9259"/>
            </a:avLst>
          </a:prstGeom>
          <a:solidFill>
            <a:srgbClr val="8B3A3A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5239512" y="320954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5925312" y="3209544"/>
            <a:ext cx="630936" cy="493776"/>
          </a:xfrm>
          <a:prstGeom prst="roundRect">
            <a:avLst>
              <a:gd name="adj" fmla="val 9259"/>
            </a:avLst>
          </a:prstGeom>
          <a:solidFill>
            <a:srgbClr val="8B3A3A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5925312" y="320954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6611112" y="3209544"/>
            <a:ext cx="630936" cy="493776"/>
          </a:xfrm>
          <a:prstGeom prst="roundRect">
            <a:avLst>
              <a:gd name="adj" fmla="val 9259"/>
            </a:avLst>
          </a:prstGeom>
          <a:solidFill>
            <a:srgbClr val="C99A2E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611112" y="320954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7296912" y="3209544"/>
            <a:ext cx="630936" cy="493776"/>
          </a:xfrm>
          <a:prstGeom prst="roundRect">
            <a:avLst>
              <a:gd name="adj" fmla="val 9259"/>
            </a:avLst>
          </a:prstGeom>
          <a:solidFill>
            <a:srgbClr val="C99A2E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7296912" y="320954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48640" y="40050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C99A2E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841248" y="39684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920240" y="40050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2212848" y="39684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Cow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3291840" y="40050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D2691E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3584448" y="39684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Mark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120640" y="40050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8B3A3A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5413248" y="39684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8321040" y="1508760"/>
            <a:ext cx="3291840" cy="457200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85953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99" name="Text 97"/>
          <p:cNvSpPr txBox="1"/>
          <p:nvPr/>
        </p:nvSpPr>
        <p:spPr>
          <a:xfrm>
            <a:off x="85953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&amp; Mid Scale</a:t>
            </a:r>
            <a:endParaRPr lang="en-US" sz="1250" dirty="0"/>
          </a:p>
        </p:txBody>
      </p:sp>
      <p:sp>
        <p:nvSpPr>
          <p:cNvPr id="100" name="Text 98"/>
          <p:cNvSpPr txBox="1"/>
          <p:nvPr/>
        </p:nvSpPr>
        <p:spPr>
          <a:xfrm>
            <a:off x="8595360" y="24505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 Cash Cow ที่มั่นคงตลอด 9 ปี — ส่วนแบ่งสูง โตช้า</a:t>
            </a:r>
            <a:endParaRPr lang="en-US" sz="1100" dirty="0"/>
          </a:p>
        </p:txBody>
      </p:sp>
      <p:sp>
        <p:nvSpPr>
          <p:cNvPr id="101" name="Text 99"/>
          <p:cNvSpPr txBox="1"/>
          <p:nvPr/>
        </p:nvSpPr>
        <p:spPr>
          <a:xfrm>
            <a:off x="85953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50" dirty="0"/>
          </a:p>
        </p:txBody>
      </p:sp>
      <p:sp>
        <p:nvSpPr>
          <p:cNvPr id="102" name="Text 100"/>
          <p:cNvSpPr txBox="1"/>
          <p:nvPr/>
        </p:nvSpPr>
        <p:spPr>
          <a:xfrm>
            <a:off x="8595360" y="35021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ขึ้นเป็น Star ใน 2568 — ขับเคลื่อนการเติบโตของพอร์ตโฟลิโอทั้งหมด</a:t>
            </a:r>
            <a:endParaRPr lang="en-US" sz="1100" dirty="0"/>
          </a:p>
        </p:txBody>
      </p:sp>
      <p:sp>
        <p:nvSpPr>
          <p:cNvPr id="103" name="Text 101"/>
          <p:cNvSpPr txBox="1"/>
          <p:nvPr/>
        </p:nvSpPr>
        <p:spPr>
          <a:xfrm>
            <a:off x="859536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250" dirty="0"/>
          </a:p>
        </p:txBody>
      </p:sp>
      <p:sp>
        <p:nvSpPr>
          <p:cNvPr id="104" name="Text 102"/>
          <p:cNvSpPr txBox="1"/>
          <p:nvPr/>
        </p:nvSpPr>
        <p:spPr>
          <a:xfrm>
            <a:off x="8595360" y="4553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 Dog/Question Mark ต่อเนื่อง — ส่วนแบ่งและการเติบโตอ่อนแอ</a:t>
            </a:r>
            <a:endParaRPr lang="en-US" sz="1100" dirty="0"/>
          </a:p>
        </p:txBody>
      </p:sp>
      <p:sp>
        <p:nvSpPr>
          <p:cNvPr id="105" name="Text 103"/>
          <p:cNvSpPr txBox="1"/>
          <p:nvPr/>
        </p:nvSpPr>
        <p:spPr>
          <a:xfrm>
            <a:off x="859536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Shift</a:t>
            </a:r>
            <a:endParaRPr lang="en-US" sz="1250" dirty="0"/>
          </a:p>
        </p:txBody>
      </p:sp>
      <p:sp>
        <p:nvSpPr>
          <p:cNvPr id="106" name="Text 104"/>
          <p:cNvSpPr txBox="1"/>
          <p:nvPr/>
        </p:nvSpPr>
        <p:spPr>
          <a:xfrm>
            <a:off x="8595360" y="56052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สัดส่วนห้องเอนเอียงไปทาง Budget ชัดเจน (23% → 63% ของ Total)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2026-09-15T08:04:22Z</dcterms:created>
  <dcterms:modified xsi:type="dcterms:W3CDTF">2026-09-15T08:04:22Z</dcterms:modified>
</cp:coreProperties>
</file>